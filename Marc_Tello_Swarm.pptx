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STATUS · OPERATOR CONSOLE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· DEFENSA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Tello Swarm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Búsqueda autónoma coordinada con A* y evasión de obstáculos.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1271016" cy="365760"/>
          </a:xfrm>
          <a:prstGeom prst="rect">
            <a:avLst/>
          </a:prstGeom>
          <a:solidFill>
            <a:srgbClr val="13161E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114800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MULTI-DRONE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48256" y="4114800"/>
            <a:ext cx="365760" cy="365760"/>
          </a:xfrm>
          <a:prstGeom prst="rect">
            <a:avLst/>
          </a:prstGeom>
          <a:solidFill>
            <a:srgbClr val="13161E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48256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A*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51176" y="4114800"/>
            <a:ext cx="1271016" cy="365760"/>
          </a:xfrm>
          <a:prstGeom prst="rect">
            <a:avLst/>
          </a:prstGeom>
          <a:solidFill>
            <a:srgbClr val="13161E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51176" y="4114800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MQTT BRIDGE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59352" y="4114800"/>
            <a:ext cx="1572768" cy="365760"/>
          </a:xfrm>
          <a:prstGeom prst="rect">
            <a:avLst/>
          </a:prstGeom>
          <a:solidFill>
            <a:srgbClr val="13161E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9352" y="41148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OBSTACLE AVOID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4114800"/>
            <a:ext cx="1069848" cy="365760"/>
          </a:xfrm>
          <a:prstGeom prst="rect">
            <a:avLst/>
          </a:prstGeom>
          <a:solidFill>
            <a:srgbClr val="13161E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4114800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3D SAFETY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 RODRÍGUEZ FRANCO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1996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Projecte de Drons  ·  Universitat Politècnica de Catalunya — AEROS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STATUS · MULTI-DRONE SWARM   ·   01 / 09   ·   PORTADA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286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1E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0972800" y="868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MISIÓN — ESCALAR A ENJAMBRE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un dron solo (Searching Tello) a 4 drones coordinados.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611880" cy="4846320"/>
          </a:xfrm>
          <a:prstGeom prst="rect">
            <a:avLst/>
          </a:prstGeom>
          <a:solidFill>
            <a:srgbClr val="13161E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73152" cy="48463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MULTI-DRONE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Hasta 4 drones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Locales (Real o Fake) + Remotos via MQTT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independientes con controles propios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zenital unificado con colores por slot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1554480"/>
            <a:ext cx="3611880" cy="4846320"/>
          </a:xfrm>
          <a:prstGeom prst="rect">
            <a:avLst/>
          </a:prstGeom>
          <a:solidFill>
            <a:srgbClr val="13161E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554480"/>
            <a:ext cx="73152" cy="48463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52628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CONVERGENCIA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628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que encuentra es el ancla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26280" y="352044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target_found_at se propaga a toda la flota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demás navegan hacia esa posición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libera (HOME o LAND), reanudan búsqueda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1554480"/>
            <a:ext cx="3611880" cy="4846320"/>
          </a:xfrm>
          <a:prstGeom prst="rect">
            <a:avLst/>
          </a:prstGeom>
          <a:solidFill>
            <a:srgbClr val="13161E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1554480"/>
            <a:ext cx="73152" cy="48463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832104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SEGURA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104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Esquivar + no chocar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21040" y="352044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sobre grafo de visibilidad para obstáculos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3D por nombre: alpha↑, delta↓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Home directo con A*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STATUS · MULTI-DRONE SWARM   ·   02 / 09   ·   OBJETIVOS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286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1E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0972800" y="868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ARQUITECTURA EN CAPAS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capas + bridge MQTT opcional. Decoupling estricto para testear aisladamente.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943600" cy="960120"/>
          </a:xfrm>
          <a:prstGeom prst="rect">
            <a:avLst/>
          </a:prstGeom>
          <a:solidFill>
            <a:srgbClr val="13161E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109728" cy="9601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9751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3225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Tkinter · Tarjetas · Mapa zenital · Event consumer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5943600" cy="960120"/>
          </a:xfrm>
          <a:prstGeom prst="rect">
            <a:avLst/>
          </a:prstGeom>
          <a:solidFill>
            <a:srgbClr val="13161E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743200"/>
            <a:ext cx="109728" cy="96012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0723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" y="3419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rotation_iteration · converge_to · return_to_origin · _astar_visibility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5943600" cy="960120"/>
          </a:xfrm>
          <a:prstGeom prst="rect">
            <a:avLst/>
          </a:prstGeom>
          <a:solidFill>
            <a:srgbClr val="13161E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40480"/>
            <a:ext cx="109728" cy="960120"/>
          </a:xfrm>
          <a:prstGeom prst="rect">
            <a:avLst/>
          </a:prstGeom>
          <a:solidFill>
            <a:srgbClr val="FFAB0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31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41696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A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FLEET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45171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DroneState · DroneTracker · target_found_at · obstacles · event queue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937760"/>
            <a:ext cx="5943600" cy="960120"/>
          </a:xfrm>
          <a:prstGeom prst="rect">
            <a:avLst/>
          </a:prstGeom>
          <a:solidFill>
            <a:srgbClr val="13161E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937760"/>
            <a:ext cx="109728" cy="9601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029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52669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DRONE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1520" y="56144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DroneInterface · RealTello · FakeTello · RemoteTello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83280" y="2569464"/>
            <a:ext cx="91440" cy="100584"/>
          </a:xfrm>
          <a:prstGeom prst="rect">
            <a:avLst/>
          </a:prstGeom>
          <a:solidFill>
            <a:srgbClr val="4A5060"/>
          </a:solidFill>
          <a:ln/>
        </p:spPr>
      </p:sp>
      <p:sp>
        <p:nvSpPr>
          <p:cNvPr id="27" name="Shape 25"/>
          <p:cNvSpPr/>
          <p:nvPr/>
        </p:nvSpPr>
        <p:spPr>
          <a:xfrm>
            <a:off x="3383280" y="3666744"/>
            <a:ext cx="91440" cy="100584"/>
          </a:xfrm>
          <a:prstGeom prst="rect">
            <a:avLst/>
          </a:prstGeom>
          <a:solidFill>
            <a:srgbClr val="4A5060"/>
          </a:solidFill>
          <a:ln/>
        </p:spPr>
      </p:sp>
      <p:sp>
        <p:nvSpPr>
          <p:cNvPr id="28" name="Shape 26"/>
          <p:cNvSpPr/>
          <p:nvPr/>
        </p:nvSpPr>
        <p:spPr>
          <a:xfrm>
            <a:off x="3383280" y="4764024"/>
            <a:ext cx="91440" cy="100584"/>
          </a:xfrm>
          <a:prstGeom prst="rect">
            <a:avLst/>
          </a:prstGeom>
          <a:solidFill>
            <a:srgbClr val="4A5060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0" y="1645920"/>
            <a:ext cx="4846320" cy="4206240"/>
          </a:xfrm>
          <a:prstGeom prst="rect">
            <a:avLst/>
          </a:prstGeom>
          <a:solidFill>
            <a:srgbClr val="13161E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0" y="1645920"/>
            <a:ext cx="4846320" cy="109728"/>
          </a:xfrm>
          <a:prstGeom prst="rect">
            <a:avLst/>
          </a:prstGeom>
          <a:solidFill>
            <a:srgbClr val="FF4C4C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MQTT BRIDGE — opcional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4088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Sincroniza flota entre PCs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40880" y="260604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PC₁ ⇄ broker ⇄ PC₂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Topics sincronizados: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drone/&lt;id&gt;/pose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drone/&lt;id&gt;/status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drone/&lt;id&gt;/found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obstacle (bidireccional)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(handshake)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3.10   ·   TKINTER   ·   DJITELLOPY   ·   YOLOV8   ·   PAHO-MQTT   ·   OPENCV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37" name="Text 35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STATUS · MULTI-DRONE SWARM   ·   03 / 09   ·   ARQUITECTURA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286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1E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0972800" y="868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DETECCIÓN — REUTILIZACIÓN + 5-FRAME CONFIRM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Selección por webcam (Arnau) → reportada al vuelo del dron real.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754880" cy="4023360"/>
          </a:xfrm>
          <a:prstGeom prst="rect">
            <a:avLst/>
          </a:prstGeom>
          <a:solidFill>
            <a:srgbClr val="13161E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4754880" cy="10972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SELECCIÓN  ·  detection.py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Webcam del portátil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606040"/>
            <a:ext cx="4023360" cy="2194560"/>
          </a:xfrm>
          <a:prstGeom prst="rect">
            <a:avLst/>
          </a:prstGeom>
          <a:solidFill>
            <a:srgbClr val="1A1D28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0240" y="3200400"/>
            <a:ext cx="1645920" cy="1097280"/>
          </a:xfrm>
          <a:prstGeom prst="rect">
            <a:avLst/>
          </a:prstGeom>
          <a:ln w="25400">
            <a:solidFill>
              <a:srgbClr val="FF4C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017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bottle  0.87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63240" y="4572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[37/50]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49377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· COCO 80 clases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Excluye "person"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con 50 frames consecutivos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confianza 0.6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1554480"/>
            <a:ext cx="6217920" cy="4023360"/>
          </a:xfrm>
          <a:prstGeom prst="rect">
            <a:avLst/>
          </a:prstGeom>
          <a:solidFill>
            <a:srgbClr val="13161E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1554480"/>
            <a:ext cx="6217920" cy="10972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0" y="1783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VUELO  ·  mission_v2.py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0720" y="2148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Cámara del dron real + YOLO en bucle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2606040"/>
            <a:ext cx="5486400" cy="2194560"/>
          </a:xfrm>
          <a:prstGeom prst="rect">
            <a:avLst/>
          </a:prstGeom>
          <a:solidFill>
            <a:srgbClr val="1A1D28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697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bottle  [4/5]  conf=0.91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80960" y="3200400"/>
            <a:ext cx="2011680" cy="1280160"/>
          </a:xfrm>
          <a:prstGeom prst="rect">
            <a:avLst/>
          </a:prstGeom>
          <a:ln w="38100">
            <a:solidFill>
              <a:srgbClr val="FF4C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3017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bottle 0.91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3840480"/>
            <a:ext cx="914400" cy="640080"/>
          </a:xfrm>
          <a:prstGeom prst="rect">
            <a:avLst/>
          </a:prstGeom>
          <a:ln w="12700">
            <a:solidFill>
              <a:srgbClr val="4A50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3383280"/>
            <a:ext cx="640080" cy="822960"/>
          </a:xfrm>
          <a:prstGeom prst="rect">
            <a:avLst/>
          </a:prstGeom>
          <a:ln w="12700">
            <a:solidFill>
              <a:srgbClr val="4A5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49377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se resalta el TARGET (caja roja gruesa)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objetos: borde gris fino (menos ruido visual)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frames consecutivos antes de reportar (anti falsos +)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241280" y="1508760"/>
            <a:ext cx="1371600" cy="1371600"/>
          </a:xfrm>
          <a:prstGeom prst="rect">
            <a:avLst/>
          </a:prstGeom>
          <a:solidFill>
            <a:srgbClr val="E8EAF0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32720" y="1600200"/>
            <a:ext cx="228600" cy="22860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28" name="Shape 26"/>
          <p:cNvSpPr/>
          <p:nvPr/>
        </p:nvSpPr>
        <p:spPr>
          <a:xfrm>
            <a:off x="10387584" y="1655064"/>
            <a:ext cx="118872" cy="118872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15016" y="1682496"/>
            <a:ext cx="64008" cy="64008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30" name="Shape 28"/>
          <p:cNvSpPr/>
          <p:nvPr/>
        </p:nvSpPr>
        <p:spPr>
          <a:xfrm>
            <a:off x="11292840" y="1600200"/>
            <a:ext cx="228600" cy="22860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31" name="Shape 29"/>
          <p:cNvSpPr/>
          <p:nvPr/>
        </p:nvSpPr>
        <p:spPr>
          <a:xfrm>
            <a:off x="11347704" y="1655064"/>
            <a:ext cx="118872" cy="118872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1375136" y="1682496"/>
            <a:ext cx="64008" cy="64008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33" name="Shape 31"/>
          <p:cNvSpPr/>
          <p:nvPr/>
        </p:nvSpPr>
        <p:spPr>
          <a:xfrm>
            <a:off x="10332720" y="2560320"/>
            <a:ext cx="228600" cy="22860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34" name="Shape 32"/>
          <p:cNvSpPr/>
          <p:nvPr/>
        </p:nvSpPr>
        <p:spPr>
          <a:xfrm>
            <a:off x="10387584" y="2615184"/>
            <a:ext cx="118872" cy="118872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15016" y="2642616"/>
            <a:ext cx="64008" cy="64008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36" name="Shape 34"/>
          <p:cNvSpPr/>
          <p:nvPr/>
        </p:nvSpPr>
        <p:spPr>
          <a:xfrm>
            <a:off x="10652760" y="192024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37" name="Shape 35"/>
          <p:cNvSpPr/>
          <p:nvPr/>
        </p:nvSpPr>
        <p:spPr>
          <a:xfrm>
            <a:off x="10652760" y="198424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38" name="Shape 36"/>
          <p:cNvSpPr/>
          <p:nvPr/>
        </p:nvSpPr>
        <p:spPr>
          <a:xfrm>
            <a:off x="10652760" y="204825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39" name="Shape 37"/>
          <p:cNvSpPr/>
          <p:nvPr/>
        </p:nvSpPr>
        <p:spPr>
          <a:xfrm>
            <a:off x="10652760" y="211226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40" name="Shape 38"/>
          <p:cNvSpPr/>
          <p:nvPr/>
        </p:nvSpPr>
        <p:spPr>
          <a:xfrm>
            <a:off x="10652760" y="2176272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41" name="Shape 39"/>
          <p:cNvSpPr/>
          <p:nvPr/>
        </p:nvSpPr>
        <p:spPr>
          <a:xfrm>
            <a:off x="10652760" y="22402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42" name="Shape 40"/>
          <p:cNvSpPr/>
          <p:nvPr/>
        </p:nvSpPr>
        <p:spPr>
          <a:xfrm>
            <a:off x="10652760" y="230428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43" name="Shape 41"/>
          <p:cNvSpPr/>
          <p:nvPr/>
        </p:nvSpPr>
        <p:spPr>
          <a:xfrm>
            <a:off x="10652760" y="236829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44" name="Shape 42"/>
          <p:cNvSpPr/>
          <p:nvPr/>
        </p:nvSpPr>
        <p:spPr>
          <a:xfrm>
            <a:off x="10652760" y="24323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45" name="Shape 43"/>
          <p:cNvSpPr/>
          <p:nvPr/>
        </p:nvSpPr>
        <p:spPr>
          <a:xfrm>
            <a:off x="10652760" y="2496312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46" name="Shape 44"/>
          <p:cNvSpPr/>
          <p:nvPr/>
        </p:nvSpPr>
        <p:spPr>
          <a:xfrm>
            <a:off x="10652760" y="256032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47" name="Shape 45"/>
          <p:cNvSpPr/>
          <p:nvPr/>
        </p:nvSpPr>
        <p:spPr>
          <a:xfrm>
            <a:off x="10652760" y="26243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48" name="Shape 46"/>
          <p:cNvSpPr/>
          <p:nvPr/>
        </p:nvSpPr>
        <p:spPr>
          <a:xfrm>
            <a:off x="10716768" y="204825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49" name="Shape 47"/>
          <p:cNvSpPr/>
          <p:nvPr/>
        </p:nvSpPr>
        <p:spPr>
          <a:xfrm>
            <a:off x="10716768" y="22402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0" name="Shape 48"/>
          <p:cNvSpPr/>
          <p:nvPr/>
        </p:nvSpPr>
        <p:spPr>
          <a:xfrm>
            <a:off x="10716768" y="24323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1" name="Shape 49"/>
          <p:cNvSpPr/>
          <p:nvPr/>
        </p:nvSpPr>
        <p:spPr>
          <a:xfrm>
            <a:off x="10716768" y="26243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2" name="Shape 50"/>
          <p:cNvSpPr/>
          <p:nvPr/>
        </p:nvSpPr>
        <p:spPr>
          <a:xfrm>
            <a:off x="10780776" y="204825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3" name="Shape 51"/>
          <p:cNvSpPr/>
          <p:nvPr/>
        </p:nvSpPr>
        <p:spPr>
          <a:xfrm>
            <a:off x="10780776" y="22402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4" name="Shape 52"/>
          <p:cNvSpPr/>
          <p:nvPr/>
        </p:nvSpPr>
        <p:spPr>
          <a:xfrm>
            <a:off x="10780776" y="24323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5" name="Shape 53"/>
          <p:cNvSpPr/>
          <p:nvPr/>
        </p:nvSpPr>
        <p:spPr>
          <a:xfrm>
            <a:off x="10780776" y="26243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6" name="Shape 54"/>
          <p:cNvSpPr/>
          <p:nvPr/>
        </p:nvSpPr>
        <p:spPr>
          <a:xfrm>
            <a:off x="10844784" y="192024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7" name="Shape 55"/>
          <p:cNvSpPr/>
          <p:nvPr/>
        </p:nvSpPr>
        <p:spPr>
          <a:xfrm>
            <a:off x="10844784" y="198424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8" name="Shape 56"/>
          <p:cNvSpPr/>
          <p:nvPr/>
        </p:nvSpPr>
        <p:spPr>
          <a:xfrm>
            <a:off x="10844784" y="204825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9" name="Shape 57"/>
          <p:cNvSpPr/>
          <p:nvPr/>
        </p:nvSpPr>
        <p:spPr>
          <a:xfrm>
            <a:off x="10844784" y="211226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0" name="Shape 58"/>
          <p:cNvSpPr/>
          <p:nvPr/>
        </p:nvSpPr>
        <p:spPr>
          <a:xfrm>
            <a:off x="10844784" y="2176272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1" name="Shape 59"/>
          <p:cNvSpPr/>
          <p:nvPr/>
        </p:nvSpPr>
        <p:spPr>
          <a:xfrm>
            <a:off x="10844784" y="22402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2" name="Shape 60"/>
          <p:cNvSpPr/>
          <p:nvPr/>
        </p:nvSpPr>
        <p:spPr>
          <a:xfrm>
            <a:off x="10844784" y="230428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3" name="Shape 61"/>
          <p:cNvSpPr/>
          <p:nvPr/>
        </p:nvSpPr>
        <p:spPr>
          <a:xfrm>
            <a:off x="10844784" y="236829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4" name="Shape 62"/>
          <p:cNvSpPr/>
          <p:nvPr/>
        </p:nvSpPr>
        <p:spPr>
          <a:xfrm>
            <a:off x="10844784" y="24323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5" name="Shape 63"/>
          <p:cNvSpPr/>
          <p:nvPr/>
        </p:nvSpPr>
        <p:spPr>
          <a:xfrm>
            <a:off x="10844784" y="2496312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6" name="Shape 64"/>
          <p:cNvSpPr/>
          <p:nvPr/>
        </p:nvSpPr>
        <p:spPr>
          <a:xfrm>
            <a:off x="10844784" y="256032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7" name="Shape 65"/>
          <p:cNvSpPr/>
          <p:nvPr/>
        </p:nvSpPr>
        <p:spPr>
          <a:xfrm>
            <a:off x="10844784" y="26243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8" name="Shape 66"/>
          <p:cNvSpPr/>
          <p:nvPr/>
        </p:nvSpPr>
        <p:spPr>
          <a:xfrm>
            <a:off x="10908792" y="204825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9" name="Shape 67"/>
          <p:cNvSpPr/>
          <p:nvPr/>
        </p:nvSpPr>
        <p:spPr>
          <a:xfrm>
            <a:off x="10908792" y="22402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0" name="Shape 68"/>
          <p:cNvSpPr/>
          <p:nvPr/>
        </p:nvSpPr>
        <p:spPr>
          <a:xfrm>
            <a:off x="10908792" y="24323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1" name="Shape 69"/>
          <p:cNvSpPr/>
          <p:nvPr/>
        </p:nvSpPr>
        <p:spPr>
          <a:xfrm>
            <a:off x="10908792" y="26243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2" name="Shape 70"/>
          <p:cNvSpPr/>
          <p:nvPr/>
        </p:nvSpPr>
        <p:spPr>
          <a:xfrm>
            <a:off x="10972800" y="204825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3" name="Shape 71"/>
          <p:cNvSpPr/>
          <p:nvPr/>
        </p:nvSpPr>
        <p:spPr>
          <a:xfrm>
            <a:off x="10972800" y="22402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4" name="Shape 72"/>
          <p:cNvSpPr/>
          <p:nvPr/>
        </p:nvSpPr>
        <p:spPr>
          <a:xfrm>
            <a:off x="10972800" y="24323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5" name="Shape 73"/>
          <p:cNvSpPr/>
          <p:nvPr/>
        </p:nvSpPr>
        <p:spPr>
          <a:xfrm>
            <a:off x="10972800" y="26243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6" name="Shape 74"/>
          <p:cNvSpPr/>
          <p:nvPr/>
        </p:nvSpPr>
        <p:spPr>
          <a:xfrm>
            <a:off x="11036808" y="192024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7" name="Shape 75"/>
          <p:cNvSpPr/>
          <p:nvPr/>
        </p:nvSpPr>
        <p:spPr>
          <a:xfrm>
            <a:off x="11036808" y="198424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8" name="Shape 76"/>
          <p:cNvSpPr/>
          <p:nvPr/>
        </p:nvSpPr>
        <p:spPr>
          <a:xfrm>
            <a:off x="11036808" y="204825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9" name="Shape 77"/>
          <p:cNvSpPr/>
          <p:nvPr/>
        </p:nvSpPr>
        <p:spPr>
          <a:xfrm>
            <a:off x="11036808" y="211226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0" name="Shape 78"/>
          <p:cNvSpPr/>
          <p:nvPr/>
        </p:nvSpPr>
        <p:spPr>
          <a:xfrm>
            <a:off x="11036808" y="2176272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1" name="Shape 79"/>
          <p:cNvSpPr/>
          <p:nvPr/>
        </p:nvSpPr>
        <p:spPr>
          <a:xfrm>
            <a:off x="11036808" y="22402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2" name="Shape 80"/>
          <p:cNvSpPr/>
          <p:nvPr/>
        </p:nvSpPr>
        <p:spPr>
          <a:xfrm>
            <a:off x="11036808" y="230428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3" name="Shape 81"/>
          <p:cNvSpPr/>
          <p:nvPr/>
        </p:nvSpPr>
        <p:spPr>
          <a:xfrm>
            <a:off x="11036808" y="236829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4" name="Shape 82"/>
          <p:cNvSpPr/>
          <p:nvPr/>
        </p:nvSpPr>
        <p:spPr>
          <a:xfrm>
            <a:off x="11036808" y="24323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5" name="Shape 83"/>
          <p:cNvSpPr/>
          <p:nvPr/>
        </p:nvSpPr>
        <p:spPr>
          <a:xfrm>
            <a:off x="11036808" y="2496312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6" name="Shape 84"/>
          <p:cNvSpPr/>
          <p:nvPr/>
        </p:nvSpPr>
        <p:spPr>
          <a:xfrm>
            <a:off x="11036808" y="256032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7" name="Shape 85"/>
          <p:cNvSpPr/>
          <p:nvPr/>
        </p:nvSpPr>
        <p:spPr>
          <a:xfrm>
            <a:off x="11036808" y="26243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8" name="Shape 86"/>
          <p:cNvSpPr/>
          <p:nvPr/>
        </p:nvSpPr>
        <p:spPr>
          <a:xfrm>
            <a:off x="11100816" y="204825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9" name="Shape 87"/>
          <p:cNvSpPr/>
          <p:nvPr/>
        </p:nvSpPr>
        <p:spPr>
          <a:xfrm>
            <a:off x="11100816" y="22402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0" name="Shape 88"/>
          <p:cNvSpPr/>
          <p:nvPr/>
        </p:nvSpPr>
        <p:spPr>
          <a:xfrm>
            <a:off x="11100816" y="24323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1" name="Shape 89"/>
          <p:cNvSpPr/>
          <p:nvPr/>
        </p:nvSpPr>
        <p:spPr>
          <a:xfrm>
            <a:off x="11100816" y="26243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2" name="Shape 90"/>
          <p:cNvSpPr/>
          <p:nvPr/>
        </p:nvSpPr>
        <p:spPr>
          <a:xfrm>
            <a:off x="11164824" y="204825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3" name="Shape 91"/>
          <p:cNvSpPr/>
          <p:nvPr/>
        </p:nvSpPr>
        <p:spPr>
          <a:xfrm>
            <a:off x="11164824" y="22402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4" name="Shape 92"/>
          <p:cNvSpPr/>
          <p:nvPr/>
        </p:nvSpPr>
        <p:spPr>
          <a:xfrm>
            <a:off x="11164824" y="24323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5" name="Shape 93"/>
          <p:cNvSpPr/>
          <p:nvPr/>
        </p:nvSpPr>
        <p:spPr>
          <a:xfrm>
            <a:off x="11164824" y="26243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6" name="Shape 94"/>
          <p:cNvSpPr/>
          <p:nvPr/>
        </p:nvSpPr>
        <p:spPr>
          <a:xfrm>
            <a:off x="11228832" y="192024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7" name="Shape 95"/>
          <p:cNvSpPr/>
          <p:nvPr/>
        </p:nvSpPr>
        <p:spPr>
          <a:xfrm>
            <a:off x="11228832" y="198424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8" name="Shape 96"/>
          <p:cNvSpPr/>
          <p:nvPr/>
        </p:nvSpPr>
        <p:spPr>
          <a:xfrm>
            <a:off x="11228832" y="204825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9" name="Shape 97"/>
          <p:cNvSpPr/>
          <p:nvPr/>
        </p:nvSpPr>
        <p:spPr>
          <a:xfrm>
            <a:off x="11228832" y="211226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0" name="Shape 98"/>
          <p:cNvSpPr/>
          <p:nvPr/>
        </p:nvSpPr>
        <p:spPr>
          <a:xfrm>
            <a:off x="11228832" y="2176272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1" name="Shape 99"/>
          <p:cNvSpPr/>
          <p:nvPr/>
        </p:nvSpPr>
        <p:spPr>
          <a:xfrm>
            <a:off x="11228832" y="22402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1228832" y="230428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1228832" y="236829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1228832" y="24323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1228832" y="2496312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228832" y="256032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228832" y="26243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1292840" y="204825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1292840" y="22402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1292840" y="24323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1292840" y="26243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1356848" y="204825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1356848" y="22402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1356848" y="24323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1356848" y="26243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6" name="Text 114"/>
          <p:cNvSpPr/>
          <p:nvPr/>
        </p:nvSpPr>
        <p:spPr>
          <a:xfrm>
            <a:off x="1024128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  ·  01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1024128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📹  YOUTUBE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YOLOV8N   ·   COCO 80   ·   CONF 0.5   ·   5-FRAME CONFIRM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0" name="Shape 118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121" name="Text 119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STATUS · MULTI-DRONE SWARM   ·   04 / 09   ·   DETECCIÓN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286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1E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0972800" y="868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BÚSQUEDA · ROTATION ITERATION · 4 DIRECCIONES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spread_headings reparte 0°/90°/180°/270° y cada dron explora su cuadrante.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08960" y="4023360"/>
            <a:ext cx="182880" cy="182880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4251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ORIGEN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4114800"/>
            <a:ext cx="0" cy="-182880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90672" y="2176272"/>
            <a:ext cx="219456" cy="219456"/>
          </a:xfrm>
          <a:prstGeom prst="ellipse">
            <a:avLst/>
          </a:prstGeom>
          <a:solidFill>
            <a:srgbClr val="00E5FF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901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4114800"/>
            <a:ext cx="1828800" cy="0"/>
          </a:xfrm>
          <a:prstGeom prst="line">
            <a:avLst/>
          </a:prstGeom>
          <a:noFill/>
          <a:ln w="25400">
            <a:solidFill>
              <a:srgbClr val="FF4C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9472" y="4005072"/>
            <a:ext cx="219456" cy="219456"/>
          </a:xfrm>
          <a:prstGeom prst="ellipse">
            <a:avLst/>
          </a:prstGeom>
          <a:solidFill>
            <a:srgbClr val="FF4C4C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4005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BRAVO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4114800"/>
            <a:ext cx="0" cy="1828800"/>
          </a:xfrm>
          <a:prstGeom prst="line">
            <a:avLst/>
          </a:prstGeom>
          <a:noFill/>
          <a:ln w="25400">
            <a:solidFill>
              <a:srgbClr val="FFAB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90672" y="5833872"/>
            <a:ext cx="219456" cy="219456"/>
          </a:xfrm>
          <a:prstGeom prst="ellipse">
            <a:avLst/>
          </a:prstGeom>
          <a:solidFill>
            <a:srgbClr val="FFAB0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6108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CHARLIE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4114800"/>
            <a:ext cx="-1828800" cy="0"/>
          </a:xfrm>
          <a:prstGeom prst="line">
            <a:avLst/>
          </a:prstGeom>
          <a:noFill/>
          <a:ln w="25400">
            <a:solidFill>
              <a:srgbClr val="BB86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61872" y="4005072"/>
            <a:ext cx="219456" cy="219456"/>
          </a:xfrm>
          <a:prstGeom prst="ellipse">
            <a:avLst/>
          </a:prstGeom>
          <a:solidFill>
            <a:srgbClr val="BB86FC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05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8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1645920"/>
            <a:ext cx="5486400" cy="4846320"/>
          </a:xfrm>
          <a:prstGeom prst="rect">
            <a:avLst/>
          </a:prstGeom>
          <a:ln w="12700">
            <a:solidFill>
              <a:srgbClr val="1E23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MAPA ZENITAL · simulación 4 fakes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1645920"/>
            <a:ext cx="5303520" cy="4846320"/>
          </a:xfrm>
          <a:prstGeom prst="rect">
            <a:avLst/>
          </a:prstGeom>
          <a:solidFill>
            <a:srgbClr val="13161E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1645920"/>
            <a:ext cx="5303520" cy="10972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rotation_iteration  ·  por dron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in SEARCHING: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sweep:  cw 30°  →  ccw 60°  →  cw 30°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obstacle ahead: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rotate cw 90°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move_forward 75 cm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YOLO detects target ≥5 frames: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report_target_found(self)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other found: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switch to CONVERGING → A*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75120" y="5943600"/>
            <a:ext cx="4754880" cy="365760"/>
          </a:xfrm>
          <a:prstGeom prst="rect">
            <a:avLst/>
          </a:prstGeom>
          <a:solidFill>
            <a:srgbClr val="1A1D28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5943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 Net rotación 0°  ·  el dron mantiene su heading inicial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SWEEP   ·   FORWARD 75   ·   OBSTACLE GUARD   ·   5-FRAME YOLO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STATUS · MULTI-DRONE SWARM   ·   05 / 09   ·   BÚSQUEDA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286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1E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0972800" y="868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CONVERGENCIA  ·  VISIBILITY GRAPH + A*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Cuando un dron detecta, los demás navegan a su posición esquivando muros.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6400800" cy="4846320"/>
          </a:xfrm>
          <a:prstGeom prst="rect">
            <a:avLst/>
          </a:prstGeom>
          <a:ln w="12700">
            <a:solidFill>
              <a:srgbClr val="1E2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VISIBILITY GRAPH  ·  ruta A* sobre muros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34440" y="2606040"/>
            <a:ext cx="274320" cy="274320"/>
          </a:xfrm>
          <a:prstGeom prst="ellipse">
            <a:avLst/>
          </a:prstGeom>
          <a:solidFill>
            <a:srgbClr val="FF4C4C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7008" y="2377440"/>
            <a:ext cx="329184" cy="0"/>
          </a:xfrm>
          <a:prstGeom prst="line">
            <a:avLst/>
          </a:prstGeom>
          <a:noFill/>
          <a:ln w="38100">
            <a:solidFill>
              <a:srgbClr val="FF4C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212848"/>
            <a:ext cx="0" cy="329184"/>
          </a:xfrm>
          <a:prstGeom prst="line">
            <a:avLst/>
          </a:prstGeom>
          <a:noFill/>
          <a:ln w="38100">
            <a:solidFill>
              <a:srgbClr val="FF4C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 · FOUND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23560" y="5166360"/>
            <a:ext cx="274320" cy="274320"/>
          </a:xfrm>
          <a:prstGeom prst="ellipse">
            <a:avLst/>
          </a:prstGeom>
          <a:solidFill>
            <a:srgbClr val="FF4C4C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5486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BRAVO · CONVERGING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0" y="3291840"/>
            <a:ext cx="914400" cy="1554480"/>
          </a:xfrm>
          <a:prstGeom prst="line">
            <a:avLst/>
          </a:prstGeom>
          <a:noFill/>
          <a:ln w="50800">
            <a:solidFill>
              <a:srgbClr val="FF8C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31136" y="3236976"/>
            <a:ext cx="109728" cy="109728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16" name="Shape 14"/>
          <p:cNvSpPr/>
          <p:nvPr/>
        </p:nvSpPr>
        <p:spPr>
          <a:xfrm>
            <a:off x="3145536" y="4791456"/>
            <a:ext cx="109728" cy="109728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0" y="3931920"/>
            <a:ext cx="1371600" cy="0"/>
          </a:xfrm>
          <a:prstGeom prst="line">
            <a:avLst/>
          </a:prstGeom>
          <a:noFill/>
          <a:ln w="50800">
            <a:solidFill>
              <a:srgbClr val="FF8C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02736" y="3877056"/>
            <a:ext cx="109728" cy="109728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19" name="Shape 17"/>
          <p:cNvSpPr/>
          <p:nvPr/>
        </p:nvSpPr>
        <p:spPr>
          <a:xfrm>
            <a:off x="4974336" y="3877056"/>
            <a:ext cx="109728" cy="109728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20" name="Shape 18"/>
          <p:cNvSpPr/>
          <p:nvPr/>
        </p:nvSpPr>
        <p:spPr>
          <a:xfrm>
            <a:off x="3017520" y="5486400"/>
            <a:ext cx="1554480" cy="0"/>
          </a:xfrm>
          <a:prstGeom prst="line">
            <a:avLst/>
          </a:prstGeom>
          <a:noFill/>
          <a:ln w="50800">
            <a:solidFill>
              <a:srgbClr val="FF8C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62656" y="5431536"/>
            <a:ext cx="109728" cy="109728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22" name="Shape 20"/>
          <p:cNvSpPr/>
          <p:nvPr/>
        </p:nvSpPr>
        <p:spPr>
          <a:xfrm>
            <a:off x="4517136" y="5431536"/>
            <a:ext cx="109728" cy="109728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23" name="Shape 21"/>
          <p:cNvSpPr/>
          <p:nvPr/>
        </p:nvSpPr>
        <p:spPr>
          <a:xfrm>
            <a:off x="2057400" y="3063240"/>
            <a:ext cx="91440" cy="91440"/>
          </a:xfrm>
          <a:prstGeom prst="ellipse">
            <a:avLst/>
          </a:prstGeom>
          <a:solidFill>
            <a:srgbClr val="FFAB00"/>
          </a:solidFill>
          <a:ln/>
        </p:spPr>
      </p:sp>
      <p:sp>
        <p:nvSpPr>
          <p:cNvPr id="24" name="Shape 22"/>
          <p:cNvSpPr/>
          <p:nvPr/>
        </p:nvSpPr>
        <p:spPr>
          <a:xfrm>
            <a:off x="2423160" y="3063240"/>
            <a:ext cx="91440" cy="91440"/>
          </a:xfrm>
          <a:prstGeom prst="ellipse">
            <a:avLst/>
          </a:prstGeom>
          <a:solidFill>
            <a:srgbClr val="FFAB00"/>
          </a:solidFill>
          <a:ln/>
        </p:spPr>
      </p:sp>
      <p:sp>
        <p:nvSpPr>
          <p:cNvPr id="25" name="Shape 23"/>
          <p:cNvSpPr/>
          <p:nvPr/>
        </p:nvSpPr>
        <p:spPr>
          <a:xfrm>
            <a:off x="3337560" y="4800600"/>
            <a:ext cx="91440" cy="91440"/>
          </a:xfrm>
          <a:prstGeom prst="ellipse">
            <a:avLst/>
          </a:prstGeom>
          <a:solidFill>
            <a:srgbClr val="FFAB00"/>
          </a:solidFill>
          <a:ln/>
        </p:spPr>
      </p:sp>
      <p:sp>
        <p:nvSpPr>
          <p:cNvPr id="26" name="Shape 24"/>
          <p:cNvSpPr/>
          <p:nvPr/>
        </p:nvSpPr>
        <p:spPr>
          <a:xfrm>
            <a:off x="2971800" y="4800600"/>
            <a:ext cx="91440" cy="91440"/>
          </a:xfrm>
          <a:prstGeom prst="ellipse">
            <a:avLst/>
          </a:prstGeom>
          <a:solidFill>
            <a:srgbClr val="FFAB00"/>
          </a:solidFill>
          <a:ln/>
        </p:spPr>
      </p:sp>
      <p:sp>
        <p:nvSpPr>
          <p:cNvPr id="27" name="Shape 25"/>
          <p:cNvSpPr/>
          <p:nvPr/>
        </p:nvSpPr>
        <p:spPr>
          <a:xfrm>
            <a:off x="3429000" y="3703320"/>
            <a:ext cx="91440" cy="91440"/>
          </a:xfrm>
          <a:prstGeom prst="ellipse">
            <a:avLst/>
          </a:prstGeom>
          <a:solidFill>
            <a:srgbClr val="FFAB00"/>
          </a:solidFill>
          <a:ln/>
        </p:spPr>
      </p:sp>
      <p:sp>
        <p:nvSpPr>
          <p:cNvPr id="28" name="Shape 26"/>
          <p:cNvSpPr/>
          <p:nvPr/>
        </p:nvSpPr>
        <p:spPr>
          <a:xfrm>
            <a:off x="5166360" y="3703320"/>
            <a:ext cx="91440" cy="91440"/>
          </a:xfrm>
          <a:prstGeom prst="ellipse">
            <a:avLst/>
          </a:prstGeom>
          <a:solidFill>
            <a:srgbClr val="FFAB00"/>
          </a:solidFill>
          <a:ln/>
        </p:spPr>
      </p:sp>
      <p:sp>
        <p:nvSpPr>
          <p:cNvPr id="29" name="Shape 27"/>
          <p:cNvSpPr/>
          <p:nvPr/>
        </p:nvSpPr>
        <p:spPr>
          <a:xfrm>
            <a:off x="2788920" y="5257800"/>
            <a:ext cx="91440" cy="91440"/>
          </a:xfrm>
          <a:prstGeom prst="ellipse">
            <a:avLst/>
          </a:prstGeom>
          <a:solidFill>
            <a:srgbClr val="FFAB00"/>
          </a:solidFill>
          <a:ln/>
        </p:spPr>
      </p:sp>
      <p:sp>
        <p:nvSpPr>
          <p:cNvPr id="30" name="Shape 28"/>
          <p:cNvSpPr/>
          <p:nvPr/>
        </p:nvSpPr>
        <p:spPr>
          <a:xfrm>
            <a:off x="4709160" y="5257800"/>
            <a:ext cx="91440" cy="91440"/>
          </a:xfrm>
          <a:prstGeom prst="ellipse">
            <a:avLst/>
          </a:prstGeom>
          <a:solidFill>
            <a:srgbClr val="FFAB00"/>
          </a:solidFill>
          <a:ln/>
        </p:spPr>
      </p:sp>
      <p:sp>
        <p:nvSpPr>
          <p:cNvPr id="31" name="Shape 29"/>
          <p:cNvSpPr/>
          <p:nvPr/>
        </p:nvSpPr>
        <p:spPr>
          <a:xfrm flipH="1">
            <a:off x="4754880" y="5303520"/>
            <a:ext cx="1005840" cy="0"/>
          </a:xfrm>
          <a:prstGeom prst="line">
            <a:avLst/>
          </a:prstGeom>
          <a:noFill/>
          <a:ln w="38100">
            <a:solidFill>
              <a:srgbClr val="00E67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4754880" y="3749040"/>
            <a:ext cx="457200" cy="1554480"/>
          </a:xfrm>
          <a:prstGeom prst="line">
            <a:avLst/>
          </a:prstGeom>
          <a:noFill/>
          <a:ln w="38100">
            <a:solidFill>
              <a:srgbClr val="00E67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>
            <a:off x="3474720" y="3749040"/>
            <a:ext cx="1737360" cy="0"/>
          </a:xfrm>
          <a:prstGeom prst="line">
            <a:avLst/>
          </a:prstGeom>
          <a:noFill/>
          <a:ln w="38100">
            <a:solidFill>
              <a:srgbClr val="00E67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 flipV="1">
            <a:off x="2468880" y="3108960"/>
            <a:ext cx="1005840" cy="640080"/>
          </a:xfrm>
          <a:prstGeom prst="line">
            <a:avLst/>
          </a:prstGeom>
          <a:noFill/>
          <a:ln w="38100">
            <a:solidFill>
              <a:srgbClr val="00E67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 flipV="1">
            <a:off x="1371600" y="2743200"/>
            <a:ext cx="1097280" cy="365760"/>
          </a:xfrm>
          <a:prstGeom prst="line">
            <a:avLst/>
          </a:prstGeom>
          <a:noFill/>
          <a:ln w="38100">
            <a:solidFill>
              <a:srgbClr val="00E67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0" y="1645920"/>
            <a:ext cx="4389120" cy="4846320"/>
          </a:xfrm>
          <a:prstGeom prst="rect">
            <a:avLst/>
          </a:prstGeom>
          <a:solidFill>
            <a:srgbClr val="13161E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0" y="1645920"/>
            <a:ext cx="4389120" cy="10972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8" name="Text 36"/>
          <p:cNvSpPr/>
          <p:nvPr/>
        </p:nvSpPr>
        <p:spPr>
          <a:xfrm>
            <a:off x="754380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NIVELES DE FALLBACK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543800" y="2286000"/>
            <a:ext cx="640080" cy="6400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0" name="Text 38"/>
          <p:cNvSpPr/>
          <p:nvPr/>
        </p:nvSpPr>
        <p:spPr>
          <a:xfrm>
            <a:off x="75438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0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827532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275320" y="26060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20 cm en todo el grafo. Ruta más holgada. PREFERIDO.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543800" y="3611880"/>
            <a:ext cx="640080" cy="6400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4" name="Text 42"/>
          <p:cNvSpPr/>
          <p:nvPr/>
        </p:nvSpPr>
        <p:spPr>
          <a:xfrm>
            <a:off x="754380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0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827532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REDUCIDA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275320" y="39319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5 cm en todo el grafo. Para huecos estrechos.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543800" y="4937760"/>
            <a:ext cx="640080" cy="64008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8" name="Text 46"/>
          <p:cNvSpPr/>
          <p:nvPr/>
        </p:nvSpPr>
        <p:spPr>
          <a:xfrm>
            <a:off x="754380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0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8275320" y="4937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ESCAPE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275320" y="52578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Aristas al START sin buffer (solo no-cruzar). Dron pegado a muro.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241280" y="5486400"/>
            <a:ext cx="914400" cy="914400"/>
          </a:xfrm>
          <a:prstGeom prst="rect">
            <a:avLst/>
          </a:prstGeom>
          <a:solidFill>
            <a:srgbClr val="E8EAF0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332720" y="5577840"/>
            <a:ext cx="228600" cy="22860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3" name="Shape 51"/>
          <p:cNvSpPr/>
          <p:nvPr/>
        </p:nvSpPr>
        <p:spPr>
          <a:xfrm>
            <a:off x="10387584" y="5632704"/>
            <a:ext cx="118872" cy="118872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54" name="Shape 52"/>
          <p:cNvSpPr/>
          <p:nvPr/>
        </p:nvSpPr>
        <p:spPr>
          <a:xfrm>
            <a:off x="10415016" y="5660136"/>
            <a:ext cx="64008" cy="64008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5" name="Shape 53"/>
          <p:cNvSpPr/>
          <p:nvPr/>
        </p:nvSpPr>
        <p:spPr>
          <a:xfrm>
            <a:off x="10835640" y="5577840"/>
            <a:ext cx="228600" cy="22860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6" name="Shape 54"/>
          <p:cNvSpPr/>
          <p:nvPr/>
        </p:nvSpPr>
        <p:spPr>
          <a:xfrm>
            <a:off x="10890504" y="5632704"/>
            <a:ext cx="118872" cy="118872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57" name="Shape 55"/>
          <p:cNvSpPr/>
          <p:nvPr/>
        </p:nvSpPr>
        <p:spPr>
          <a:xfrm>
            <a:off x="10917936" y="5660136"/>
            <a:ext cx="64008" cy="64008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8" name="Shape 56"/>
          <p:cNvSpPr/>
          <p:nvPr/>
        </p:nvSpPr>
        <p:spPr>
          <a:xfrm>
            <a:off x="10332720" y="6080760"/>
            <a:ext cx="228600" cy="22860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9" name="Shape 57"/>
          <p:cNvSpPr/>
          <p:nvPr/>
        </p:nvSpPr>
        <p:spPr>
          <a:xfrm>
            <a:off x="10387584" y="6135624"/>
            <a:ext cx="118872" cy="118872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60" name="Shape 58"/>
          <p:cNvSpPr/>
          <p:nvPr/>
        </p:nvSpPr>
        <p:spPr>
          <a:xfrm>
            <a:off x="10415016" y="6163056"/>
            <a:ext cx="64008" cy="64008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1" name="Shape 59"/>
          <p:cNvSpPr/>
          <p:nvPr/>
        </p:nvSpPr>
        <p:spPr>
          <a:xfrm>
            <a:off x="10652760" y="58978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2" name="Shape 60"/>
          <p:cNvSpPr/>
          <p:nvPr/>
        </p:nvSpPr>
        <p:spPr>
          <a:xfrm>
            <a:off x="10652760" y="596188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3" name="Shape 61"/>
          <p:cNvSpPr/>
          <p:nvPr/>
        </p:nvSpPr>
        <p:spPr>
          <a:xfrm>
            <a:off x="10652760" y="602589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4" name="Shape 62"/>
          <p:cNvSpPr/>
          <p:nvPr/>
        </p:nvSpPr>
        <p:spPr>
          <a:xfrm>
            <a:off x="10652760" y="60899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5" name="Shape 63"/>
          <p:cNvSpPr/>
          <p:nvPr/>
        </p:nvSpPr>
        <p:spPr>
          <a:xfrm>
            <a:off x="10652760" y="6153912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6" name="Shape 64"/>
          <p:cNvSpPr/>
          <p:nvPr/>
        </p:nvSpPr>
        <p:spPr>
          <a:xfrm>
            <a:off x="10652760" y="621792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7" name="Shape 65"/>
          <p:cNvSpPr/>
          <p:nvPr/>
        </p:nvSpPr>
        <p:spPr>
          <a:xfrm>
            <a:off x="10652760" y="62819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8" name="Shape 66"/>
          <p:cNvSpPr/>
          <p:nvPr/>
        </p:nvSpPr>
        <p:spPr>
          <a:xfrm>
            <a:off x="10652760" y="634593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9" name="Shape 67"/>
          <p:cNvSpPr/>
          <p:nvPr/>
        </p:nvSpPr>
        <p:spPr>
          <a:xfrm>
            <a:off x="10652760" y="640994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0" name="Shape 68"/>
          <p:cNvSpPr/>
          <p:nvPr/>
        </p:nvSpPr>
        <p:spPr>
          <a:xfrm>
            <a:off x="10652760" y="6473952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1" name="Shape 69"/>
          <p:cNvSpPr/>
          <p:nvPr/>
        </p:nvSpPr>
        <p:spPr>
          <a:xfrm>
            <a:off x="10652760" y="653796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2" name="Shape 70"/>
          <p:cNvSpPr/>
          <p:nvPr/>
        </p:nvSpPr>
        <p:spPr>
          <a:xfrm>
            <a:off x="10652760" y="660196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3" name="Shape 71"/>
          <p:cNvSpPr/>
          <p:nvPr/>
        </p:nvSpPr>
        <p:spPr>
          <a:xfrm>
            <a:off x="10716768" y="602589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4" name="Shape 72"/>
          <p:cNvSpPr/>
          <p:nvPr/>
        </p:nvSpPr>
        <p:spPr>
          <a:xfrm>
            <a:off x="10716768" y="621792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5" name="Shape 73"/>
          <p:cNvSpPr/>
          <p:nvPr/>
        </p:nvSpPr>
        <p:spPr>
          <a:xfrm>
            <a:off x="10716768" y="640994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6" name="Shape 74"/>
          <p:cNvSpPr/>
          <p:nvPr/>
        </p:nvSpPr>
        <p:spPr>
          <a:xfrm>
            <a:off x="10716768" y="660196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7" name="Shape 75"/>
          <p:cNvSpPr/>
          <p:nvPr/>
        </p:nvSpPr>
        <p:spPr>
          <a:xfrm>
            <a:off x="10780776" y="602589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8" name="Shape 76"/>
          <p:cNvSpPr/>
          <p:nvPr/>
        </p:nvSpPr>
        <p:spPr>
          <a:xfrm>
            <a:off x="10780776" y="621792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9" name="Shape 77"/>
          <p:cNvSpPr/>
          <p:nvPr/>
        </p:nvSpPr>
        <p:spPr>
          <a:xfrm>
            <a:off x="10780776" y="640994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0" name="Shape 78"/>
          <p:cNvSpPr/>
          <p:nvPr/>
        </p:nvSpPr>
        <p:spPr>
          <a:xfrm>
            <a:off x="10780776" y="660196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1" name="Shape 79"/>
          <p:cNvSpPr/>
          <p:nvPr/>
        </p:nvSpPr>
        <p:spPr>
          <a:xfrm>
            <a:off x="10844784" y="58978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2" name="Shape 80"/>
          <p:cNvSpPr/>
          <p:nvPr/>
        </p:nvSpPr>
        <p:spPr>
          <a:xfrm>
            <a:off x="10844784" y="596188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3" name="Shape 81"/>
          <p:cNvSpPr/>
          <p:nvPr/>
        </p:nvSpPr>
        <p:spPr>
          <a:xfrm>
            <a:off x="10844784" y="602589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4" name="Shape 82"/>
          <p:cNvSpPr/>
          <p:nvPr/>
        </p:nvSpPr>
        <p:spPr>
          <a:xfrm>
            <a:off x="10844784" y="60899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5" name="Shape 83"/>
          <p:cNvSpPr/>
          <p:nvPr/>
        </p:nvSpPr>
        <p:spPr>
          <a:xfrm>
            <a:off x="10844784" y="6153912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6" name="Shape 84"/>
          <p:cNvSpPr/>
          <p:nvPr/>
        </p:nvSpPr>
        <p:spPr>
          <a:xfrm>
            <a:off x="10844784" y="621792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7" name="Shape 85"/>
          <p:cNvSpPr/>
          <p:nvPr/>
        </p:nvSpPr>
        <p:spPr>
          <a:xfrm>
            <a:off x="10844784" y="62819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8" name="Shape 86"/>
          <p:cNvSpPr/>
          <p:nvPr/>
        </p:nvSpPr>
        <p:spPr>
          <a:xfrm>
            <a:off x="10844784" y="634593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9" name="Shape 87"/>
          <p:cNvSpPr/>
          <p:nvPr/>
        </p:nvSpPr>
        <p:spPr>
          <a:xfrm>
            <a:off x="10844784" y="640994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0" name="Shape 88"/>
          <p:cNvSpPr/>
          <p:nvPr/>
        </p:nvSpPr>
        <p:spPr>
          <a:xfrm>
            <a:off x="10844784" y="6473952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1" name="Shape 89"/>
          <p:cNvSpPr/>
          <p:nvPr/>
        </p:nvSpPr>
        <p:spPr>
          <a:xfrm>
            <a:off x="10844784" y="653796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2" name="Shape 90"/>
          <p:cNvSpPr/>
          <p:nvPr/>
        </p:nvSpPr>
        <p:spPr>
          <a:xfrm>
            <a:off x="10844784" y="660196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3" name="Shape 91"/>
          <p:cNvSpPr/>
          <p:nvPr/>
        </p:nvSpPr>
        <p:spPr>
          <a:xfrm>
            <a:off x="10908792" y="602589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4" name="Shape 92"/>
          <p:cNvSpPr/>
          <p:nvPr/>
        </p:nvSpPr>
        <p:spPr>
          <a:xfrm>
            <a:off x="10908792" y="621792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5" name="Shape 93"/>
          <p:cNvSpPr/>
          <p:nvPr/>
        </p:nvSpPr>
        <p:spPr>
          <a:xfrm>
            <a:off x="10908792" y="640994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6" name="Shape 94"/>
          <p:cNvSpPr/>
          <p:nvPr/>
        </p:nvSpPr>
        <p:spPr>
          <a:xfrm>
            <a:off x="10908792" y="660196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7" name="Shape 95"/>
          <p:cNvSpPr/>
          <p:nvPr/>
        </p:nvSpPr>
        <p:spPr>
          <a:xfrm>
            <a:off x="10972800" y="602589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8" name="Shape 96"/>
          <p:cNvSpPr/>
          <p:nvPr/>
        </p:nvSpPr>
        <p:spPr>
          <a:xfrm>
            <a:off x="10972800" y="621792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9" name="Shape 97"/>
          <p:cNvSpPr/>
          <p:nvPr/>
        </p:nvSpPr>
        <p:spPr>
          <a:xfrm>
            <a:off x="10972800" y="640994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972800" y="660196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1" name="Shape 99"/>
          <p:cNvSpPr/>
          <p:nvPr/>
        </p:nvSpPr>
        <p:spPr>
          <a:xfrm>
            <a:off x="11036808" y="58978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1036808" y="596188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1036808" y="602589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1036808" y="60899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1036808" y="6153912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036808" y="621792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036808" y="62819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1036808" y="634593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1036808" y="640994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1036808" y="6473952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1036808" y="653796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1036808" y="660196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1100816" y="602589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1100816" y="621792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1100816" y="640994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1100816" y="660196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1164824" y="602589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1164824" y="621792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1164824" y="640994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1164824" y="660196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1228832" y="58978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1228832" y="596188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1228832" y="602589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24" name="Shape 122"/>
          <p:cNvSpPr/>
          <p:nvPr/>
        </p:nvSpPr>
        <p:spPr>
          <a:xfrm>
            <a:off x="11228832" y="60899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25" name="Shape 123"/>
          <p:cNvSpPr/>
          <p:nvPr/>
        </p:nvSpPr>
        <p:spPr>
          <a:xfrm>
            <a:off x="11228832" y="6153912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26" name="Shape 124"/>
          <p:cNvSpPr/>
          <p:nvPr/>
        </p:nvSpPr>
        <p:spPr>
          <a:xfrm>
            <a:off x="11228832" y="621792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1228832" y="62819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1228832" y="634593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1228832" y="640994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30" name="Shape 128"/>
          <p:cNvSpPr/>
          <p:nvPr/>
        </p:nvSpPr>
        <p:spPr>
          <a:xfrm>
            <a:off x="11228832" y="6473952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31" name="Shape 129"/>
          <p:cNvSpPr/>
          <p:nvPr/>
        </p:nvSpPr>
        <p:spPr>
          <a:xfrm>
            <a:off x="11228832" y="653796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32" name="Shape 130"/>
          <p:cNvSpPr/>
          <p:nvPr/>
        </p:nvSpPr>
        <p:spPr>
          <a:xfrm>
            <a:off x="11228832" y="660196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1292840" y="602589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1292840" y="621792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1292840" y="640994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36" name="Shape 134"/>
          <p:cNvSpPr/>
          <p:nvPr/>
        </p:nvSpPr>
        <p:spPr>
          <a:xfrm>
            <a:off x="11292840" y="660196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1356848" y="602589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38" name="Shape 136"/>
          <p:cNvSpPr/>
          <p:nvPr/>
        </p:nvSpPr>
        <p:spPr>
          <a:xfrm>
            <a:off x="11356848" y="621792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1356848" y="640994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40" name="Shape 138"/>
          <p:cNvSpPr/>
          <p:nvPr/>
        </p:nvSpPr>
        <p:spPr>
          <a:xfrm>
            <a:off x="11356848" y="660196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41" name="Text 139"/>
          <p:cNvSpPr/>
          <p:nvPr/>
        </p:nvSpPr>
        <p:spPr>
          <a:xfrm>
            <a:off x="10241280" y="5212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 · 02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1024128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📹  YOUTUBE</a:t>
            </a:r>
            <a:endParaRPr lang="en-US" sz="800" dirty="0"/>
          </a:p>
        </p:txBody>
      </p:sp>
      <p:sp>
        <p:nvSpPr>
          <p:cNvPr id="143" name="Text 14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VISIBILITY GRAPH   ·   A*   ·   3-LEVEL FALLBACK   ·   RETRY EVERY 3S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45" name="Shape 143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146" name="Text 144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STATUS · MULTI-DRONE SWARM   ·   06 / 09   ·   CONVERGENCIA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286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1E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0972800" y="868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SEGURIDAD 3D + RETURN TO HOME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 por letras (alpha↑ delta↓) + RTH directo con A*.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00" cy="4937760"/>
          </a:xfrm>
          <a:prstGeom prst="rect">
            <a:avLst/>
          </a:prstGeom>
          <a:solidFill>
            <a:srgbClr val="13161E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5486400" cy="109728"/>
          </a:xfrm>
          <a:prstGeom prst="rect">
            <a:avLst/>
          </a:prstGeom>
          <a:solidFill>
            <a:srgbClr val="FFAB0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A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CAPAS POR NOMBRE  ·  vista lateral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dron a una altura distinta → 0 colisiones verticales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6035040"/>
            <a:ext cx="4572000" cy="0"/>
          </a:xfrm>
          <a:prstGeom prst="line">
            <a:avLst/>
          </a:prstGeom>
          <a:noFill/>
          <a:ln w="12700">
            <a:solidFill>
              <a:srgbClr val="8A91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6035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SUELO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14400" y="2606040"/>
            <a:ext cx="4572000" cy="0"/>
          </a:xfrm>
          <a:prstGeom prst="line">
            <a:avLst/>
          </a:prstGeom>
          <a:noFill/>
          <a:ln w="6350">
            <a:solidFill>
              <a:srgbClr val="4A506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017520" y="2441448"/>
            <a:ext cx="365760" cy="36576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 cm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3337560"/>
            <a:ext cx="4572000" cy="0"/>
          </a:xfrm>
          <a:prstGeom prst="line">
            <a:avLst/>
          </a:prstGeom>
          <a:noFill/>
          <a:ln w="6350">
            <a:solidFill>
              <a:srgbClr val="4A506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017520" y="3172968"/>
            <a:ext cx="365760" cy="365760"/>
          </a:xfrm>
          <a:prstGeom prst="ellipse">
            <a:avLst/>
          </a:prstGeom>
          <a:solidFill>
            <a:srgbClr val="FF4C4C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BRAVO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cm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4069080"/>
            <a:ext cx="4572000" cy="0"/>
          </a:xfrm>
          <a:prstGeom prst="line">
            <a:avLst/>
          </a:prstGeom>
          <a:noFill/>
          <a:ln w="6350">
            <a:solidFill>
              <a:srgbClr val="4A506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017520" y="3904488"/>
            <a:ext cx="365760" cy="365760"/>
          </a:xfrm>
          <a:prstGeom prst="ellipse">
            <a:avLst/>
          </a:prstGeom>
          <a:solidFill>
            <a:srgbClr val="FFAB0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CHARLIE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66160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 cm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4800600"/>
            <a:ext cx="4572000" cy="0"/>
          </a:xfrm>
          <a:prstGeom prst="line">
            <a:avLst/>
          </a:prstGeom>
          <a:noFill/>
          <a:ln w="6350">
            <a:solidFill>
              <a:srgbClr val="4A506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017520" y="4636008"/>
            <a:ext cx="365760" cy="365760"/>
          </a:xfrm>
          <a:prstGeom prst="ellipse">
            <a:avLst/>
          </a:prstGeom>
          <a:solidFill>
            <a:srgbClr val="BB86FC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663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B8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66160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cm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1554480"/>
            <a:ext cx="5486400" cy="4937760"/>
          </a:xfrm>
          <a:prstGeom prst="rect">
            <a:avLst/>
          </a:prstGeom>
          <a:solidFill>
            <a:srgbClr val="13161E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1554480"/>
            <a:ext cx="5486400" cy="10972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1737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TO HOME  ·  vista cenital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92240" y="21031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Ruta directa al origen (A*), esquivando obstáculos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23760" y="5852160"/>
            <a:ext cx="182880" cy="182880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6080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652760" y="2788920"/>
            <a:ext cx="274320" cy="2743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32720" y="2514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DRONE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863840" y="3657600"/>
            <a:ext cx="1097280" cy="0"/>
          </a:xfrm>
          <a:prstGeom prst="line">
            <a:avLst/>
          </a:prstGeom>
          <a:noFill/>
          <a:ln w="38100">
            <a:solidFill>
              <a:srgbClr val="FF8C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18320" y="4572000"/>
            <a:ext cx="914400" cy="0"/>
          </a:xfrm>
          <a:prstGeom prst="line">
            <a:avLst/>
          </a:prstGeom>
          <a:noFill/>
          <a:ln w="38100">
            <a:solidFill>
              <a:srgbClr val="FF8C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0" y="5029200"/>
            <a:ext cx="0" cy="640080"/>
          </a:xfrm>
          <a:prstGeom prst="line">
            <a:avLst/>
          </a:prstGeom>
          <a:noFill/>
          <a:ln w="38100">
            <a:solidFill>
              <a:srgbClr val="FF8C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9875520" y="2926080"/>
            <a:ext cx="914400" cy="548640"/>
          </a:xfrm>
          <a:prstGeom prst="line">
            <a:avLst/>
          </a:prstGeom>
          <a:noFill/>
          <a:ln w="31750">
            <a:solidFill>
              <a:srgbClr val="00E67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>
            <a:off x="9144000" y="3474720"/>
            <a:ext cx="731520" cy="640080"/>
          </a:xfrm>
          <a:prstGeom prst="line">
            <a:avLst/>
          </a:prstGeom>
          <a:noFill/>
          <a:ln w="31750">
            <a:solidFill>
              <a:srgbClr val="00E67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8503920" y="4114800"/>
            <a:ext cx="640080" cy="731520"/>
          </a:xfrm>
          <a:prstGeom prst="line">
            <a:avLst/>
          </a:prstGeom>
          <a:noFill/>
          <a:ln w="31750">
            <a:solidFill>
              <a:srgbClr val="00E67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>
            <a:off x="7315200" y="4846320"/>
            <a:ext cx="1188720" cy="457200"/>
          </a:xfrm>
          <a:prstGeom prst="line">
            <a:avLst/>
          </a:prstGeom>
          <a:noFill/>
          <a:ln w="31750">
            <a:solidFill>
              <a:srgbClr val="00E67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15200" y="5303520"/>
            <a:ext cx="0" cy="640080"/>
          </a:xfrm>
          <a:prstGeom prst="line">
            <a:avLst/>
          </a:prstGeom>
          <a:noFill/>
          <a:ln w="31750">
            <a:solidFill>
              <a:srgbClr val="00E67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241280" y="1508760"/>
            <a:ext cx="1371600" cy="1371600"/>
          </a:xfrm>
          <a:prstGeom prst="rect">
            <a:avLst/>
          </a:prstGeom>
          <a:solidFill>
            <a:srgbClr val="E8EAF0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332720" y="1600200"/>
            <a:ext cx="228600" cy="22860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46" name="Shape 44"/>
          <p:cNvSpPr/>
          <p:nvPr/>
        </p:nvSpPr>
        <p:spPr>
          <a:xfrm>
            <a:off x="10387584" y="1655064"/>
            <a:ext cx="118872" cy="118872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47" name="Shape 45"/>
          <p:cNvSpPr/>
          <p:nvPr/>
        </p:nvSpPr>
        <p:spPr>
          <a:xfrm>
            <a:off x="10415016" y="1682496"/>
            <a:ext cx="64008" cy="64008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48" name="Shape 46"/>
          <p:cNvSpPr/>
          <p:nvPr/>
        </p:nvSpPr>
        <p:spPr>
          <a:xfrm>
            <a:off x="11292840" y="1600200"/>
            <a:ext cx="228600" cy="22860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49" name="Shape 47"/>
          <p:cNvSpPr/>
          <p:nvPr/>
        </p:nvSpPr>
        <p:spPr>
          <a:xfrm>
            <a:off x="11347704" y="1655064"/>
            <a:ext cx="118872" cy="118872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50" name="Shape 48"/>
          <p:cNvSpPr/>
          <p:nvPr/>
        </p:nvSpPr>
        <p:spPr>
          <a:xfrm>
            <a:off x="11375136" y="1682496"/>
            <a:ext cx="64008" cy="64008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1" name="Shape 49"/>
          <p:cNvSpPr/>
          <p:nvPr/>
        </p:nvSpPr>
        <p:spPr>
          <a:xfrm>
            <a:off x="10332720" y="2560320"/>
            <a:ext cx="228600" cy="22860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2" name="Shape 50"/>
          <p:cNvSpPr/>
          <p:nvPr/>
        </p:nvSpPr>
        <p:spPr>
          <a:xfrm>
            <a:off x="10387584" y="2615184"/>
            <a:ext cx="118872" cy="118872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53" name="Shape 51"/>
          <p:cNvSpPr/>
          <p:nvPr/>
        </p:nvSpPr>
        <p:spPr>
          <a:xfrm>
            <a:off x="10415016" y="2642616"/>
            <a:ext cx="64008" cy="64008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4" name="Shape 52"/>
          <p:cNvSpPr/>
          <p:nvPr/>
        </p:nvSpPr>
        <p:spPr>
          <a:xfrm>
            <a:off x="10652760" y="192024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5" name="Shape 53"/>
          <p:cNvSpPr/>
          <p:nvPr/>
        </p:nvSpPr>
        <p:spPr>
          <a:xfrm>
            <a:off x="10652760" y="198424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6" name="Shape 54"/>
          <p:cNvSpPr/>
          <p:nvPr/>
        </p:nvSpPr>
        <p:spPr>
          <a:xfrm>
            <a:off x="10652760" y="204825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7" name="Shape 55"/>
          <p:cNvSpPr/>
          <p:nvPr/>
        </p:nvSpPr>
        <p:spPr>
          <a:xfrm>
            <a:off x="10652760" y="211226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8" name="Shape 56"/>
          <p:cNvSpPr/>
          <p:nvPr/>
        </p:nvSpPr>
        <p:spPr>
          <a:xfrm>
            <a:off x="10652760" y="2176272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59" name="Shape 57"/>
          <p:cNvSpPr/>
          <p:nvPr/>
        </p:nvSpPr>
        <p:spPr>
          <a:xfrm>
            <a:off x="10652760" y="22402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0" name="Shape 58"/>
          <p:cNvSpPr/>
          <p:nvPr/>
        </p:nvSpPr>
        <p:spPr>
          <a:xfrm>
            <a:off x="10652760" y="230428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1" name="Shape 59"/>
          <p:cNvSpPr/>
          <p:nvPr/>
        </p:nvSpPr>
        <p:spPr>
          <a:xfrm>
            <a:off x="10652760" y="236829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2" name="Shape 60"/>
          <p:cNvSpPr/>
          <p:nvPr/>
        </p:nvSpPr>
        <p:spPr>
          <a:xfrm>
            <a:off x="10652760" y="24323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3" name="Shape 61"/>
          <p:cNvSpPr/>
          <p:nvPr/>
        </p:nvSpPr>
        <p:spPr>
          <a:xfrm>
            <a:off x="10652760" y="2496312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4" name="Shape 62"/>
          <p:cNvSpPr/>
          <p:nvPr/>
        </p:nvSpPr>
        <p:spPr>
          <a:xfrm>
            <a:off x="10652760" y="256032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5" name="Shape 63"/>
          <p:cNvSpPr/>
          <p:nvPr/>
        </p:nvSpPr>
        <p:spPr>
          <a:xfrm>
            <a:off x="10652760" y="26243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6" name="Shape 64"/>
          <p:cNvSpPr/>
          <p:nvPr/>
        </p:nvSpPr>
        <p:spPr>
          <a:xfrm>
            <a:off x="10716768" y="204825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7" name="Shape 65"/>
          <p:cNvSpPr/>
          <p:nvPr/>
        </p:nvSpPr>
        <p:spPr>
          <a:xfrm>
            <a:off x="10716768" y="22402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8" name="Shape 66"/>
          <p:cNvSpPr/>
          <p:nvPr/>
        </p:nvSpPr>
        <p:spPr>
          <a:xfrm>
            <a:off x="10716768" y="24323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69" name="Shape 67"/>
          <p:cNvSpPr/>
          <p:nvPr/>
        </p:nvSpPr>
        <p:spPr>
          <a:xfrm>
            <a:off x="10716768" y="26243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0" name="Shape 68"/>
          <p:cNvSpPr/>
          <p:nvPr/>
        </p:nvSpPr>
        <p:spPr>
          <a:xfrm>
            <a:off x="10780776" y="204825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1" name="Shape 69"/>
          <p:cNvSpPr/>
          <p:nvPr/>
        </p:nvSpPr>
        <p:spPr>
          <a:xfrm>
            <a:off x="10780776" y="22402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2" name="Shape 70"/>
          <p:cNvSpPr/>
          <p:nvPr/>
        </p:nvSpPr>
        <p:spPr>
          <a:xfrm>
            <a:off x="10780776" y="24323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3" name="Shape 71"/>
          <p:cNvSpPr/>
          <p:nvPr/>
        </p:nvSpPr>
        <p:spPr>
          <a:xfrm>
            <a:off x="10780776" y="26243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4" name="Shape 72"/>
          <p:cNvSpPr/>
          <p:nvPr/>
        </p:nvSpPr>
        <p:spPr>
          <a:xfrm>
            <a:off x="10844784" y="192024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5" name="Shape 73"/>
          <p:cNvSpPr/>
          <p:nvPr/>
        </p:nvSpPr>
        <p:spPr>
          <a:xfrm>
            <a:off x="10844784" y="198424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6" name="Shape 74"/>
          <p:cNvSpPr/>
          <p:nvPr/>
        </p:nvSpPr>
        <p:spPr>
          <a:xfrm>
            <a:off x="10844784" y="204825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7" name="Shape 75"/>
          <p:cNvSpPr/>
          <p:nvPr/>
        </p:nvSpPr>
        <p:spPr>
          <a:xfrm>
            <a:off x="10844784" y="211226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8" name="Shape 76"/>
          <p:cNvSpPr/>
          <p:nvPr/>
        </p:nvSpPr>
        <p:spPr>
          <a:xfrm>
            <a:off x="10844784" y="2176272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79" name="Shape 77"/>
          <p:cNvSpPr/>
          <p:nvPr/>
        </p:nvSpPr>
        <p:spPr>
          <a:xfrm>
            <a:off x="10844784" y="22402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0" name="Shape 78"/>
          <p:cNvSpPr/>
          <p:nvPr/>
        </p:nvSpPr>
        <p:spPr>
          <a:xfrm>
            <a:off x="10844784" y="230428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1" name="Shape 79"/>
          <p:cNvSpPr/>
          <p:nvPr/>
        </p:nvSpPr>
        <p:spPr>
          <a:xfrm>
            <a:off x="10844784" y="236829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2" name="Shape 80"/>
          <p:cNvSpPr/>
          <p:nvPr/>
        </p:nvSpPr>
        <p:spPr>
          <a:xfrm>
            <a:off x="10844784" y="24323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3" name="Shape 81"/>
          <p:cNvSpPr/>
          <p:nvPr/>
        </p:nvSpPr>
        <p:spPr>
          <a:xfrm>
            <a:off x="10844784" y="2496312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4" name="Shape 82"/>
          <p:cNvSpPr/>
          <p:nvPr/>
        </p:nvSpPr>
        <p:spPr>
          <a:xfrm>
            <a:off x="10844784" y="256032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5" name="Shape 83"/>
          <p:cNvSpPr/>
          <p:nvPr/>
        </p:nvSpPr>
        <p:spPr>
          <a:xfrm>
            <a:off x="10844784" y="26243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6" name="Shape 84"/>
          <p:cNvSpPr/>
          <p:nvPr/>
        </p:nvSpPr>
        <p:spPr>
          <a:xfrm>
            <a:off x="10908792" y="204825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7" name="Shape 85"/>
          <p:cNvSpPr/>
          <p:nvPr/>
        </p:nvSpPr>
        <p:spPr>
          <a:xfrm>
            <a:off x="10908792" y="22402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8" name="Shape 86"/>
          <p:cNvSpPr/>
          <p:nvPr/>
        </p:nvSpPr>
        <p:spPr>
          <a:xfrm>
            <a:off x="10908792" y="24323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89" name="Shape 87"/>
          <p:cNvSpPr/>
          <p:nvPr/>
        </p:nvSpPr>
        <p:spPr>
          <a:xfrm>
            <a:off x="10908792" y="26243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0" name="Shape 88"/>
          <p:cNvSpPr/>
          <p:nvPr/>
        </p:nvSpPr>
        <p:spPr>
          <a:xfrm>
            <a:off x="10972800" y="204825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1" name="Shape 89"/>
          <p:cNvSpPr/>
          <p:nvPr/>
        </p:nvSpPr>
        <p:spPr>
          <a:xfrm>
            <a:off x="10972800" y="22402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2" name="Shape 90"/>
          <p:cNvSpPr/>
          <p:nvPr/>
        </p:nvSpPr>
        <p:spPr>
          <a:xfrm>
            <a:off x="10972800" y="24323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3" name="Shape 91"/>
          <p:cNvSpPr/>
          <p:nvPr/>
        </p:nvSpPr>
        <p:spPr>
          <a:xfrm>
            <a:off x="10972800" y="26243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4" name="Shape 92"/>
          <p:cNvSpPr/>
          <p:nvPr/>
        </p:nvSpPr>
        <p:spPr>
          <a:xfrm>
            <a:off x="11036808" y="192024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5" name="Shape 93"/>
          <p:cNvSpPr/>
          <p:nvPr/>
        </p:nvSpPr>
        <p:spPr>
          <a:xfrm>
            <a:off x="11036808" y="198424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6" name="Shape 94"/>
          <p:cNvSpPr/>
          <p:nvPr/>
        </p:nvSpPr>
        <p:spPr>
          <a:xfrm>
            <a:off x="11036808" y="204825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7" name="Shape 95"/>
          <p:cNvSpPr/>
          <p:nvPr/>
        </p:nvSpPr>
        <p:spPr>
          <a:xfrm>
            <a:off x="11036808" y="211226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8" name="Shape 96"/>
          <p:cNvSpPr/>
          <p:nvPr/>
        </p:nvSpPr>
        <p:spPr>
          <a:xfrm>
            <a:off x="11036808" y="2176272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99" name="Shape 97"/>
          <p:cNvSpPr/>
          <p:nvPr/>
        </p:nvSpPr>
        <p:spPr>
          <a:xfrm>
            <a:off x="11036808" y="22402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0" name="Shape 98"/>
          <p:cNvSpPr/>
          <p:nvPr/>
        </p:nvSpPr>
        <p:spPr>
          <a:xfrm>
            <a:off x="11036808" y="230428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1" name="Shape 99"/>
          <p:cNvSpPr/>
          <p:nvPr/>
        </p:nvSpPr>
        <p:spPr>
          <a:xfrm>
            <a:off x="11036808" y="236829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1036808" y="24323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1036808" y="2496312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1036808" y="256032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1036808" y="26243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100816" y="204825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100816" y="22402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1100816" y="24323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1100816" y="26243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1164824" y="204825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1164824" y="22402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1164824" y="24323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1164824" y="26243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1228832" y="192024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1228832" y="198424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1228832" y="204825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1228832" y="211226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1228832" y="2176272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1228832" y="22402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1228832" y="230428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1228832" y="236829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1228832" y="24323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1228832" y="2496312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24" name="Shape 122"/>
          <p:cNvSpPr/>
          <p:nvPr/>
        </p:nvSpPr>
        <p:spPr>
          <a:xfrm>
            <a:off x="11228832" y="256032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25" name="Shape 123"/>
          <p:cNvSpPr/>
          <p:nvPr/>
        </p:nvSpPr>
        <p:spPr>
          <a:xfrm>
            <a:off x="11228832" y="26243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26" name="Shape 124"/>
          <p:cNvSpPr/>
          <p:nvPr/>
        </p:nvSpPr>
        <p:spPr>
          <a:xfrm>
            <a:off x="11292840" y="204825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1292840" y="22402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1292840" y="24323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1292840" y="26243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30" name="Shape 128"/>
          <p:cNvSpPr/>
          <p:nvPr/>
        </p:nvSpPr>
        <p:spPr>
          <a:xfrm>
            <a:off x="11356848" y="2048256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31" name="Shape 129"/>
          <p:cNvSpPr/>
          <p:nvPr/>
        </p:nvSpPr>
        <p:spPr>
          <a:xfrm>
            <a:off x="11356848" y="2240280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32" name="Shape 130"/>
          <p:cNvSpPr/>
          <p:nvPr/>
        </p:nvSpPr>
        <p:spPr>
          <a:xfrm>
            <a:off x="11356848" y="2432304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1356848" y="2624328"/>
            <a:ext cx="45720" cy="45720"/>
          </a:xfrm>
          <a:prstGeom prst="rect">
            <a:avLst/>
          </a:prstGeom>
          <a:solidFill>
            <a:srgbClr val="0D0F14"/>
          </a:solidFill>
          <a:ln/>
        </p:spPr>
      </p:sp>
      <p:sp>
        <p:nvSpPr>
          <p:cNvPr id="134" name="Text 132"/>
          <p:cNvSpPr/>
          <p:nvPr/>
        </p:nvSpPr>
        <p:spPr>
          <a:xfrm>
            <a:off x="1024128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  ·  03</a:t>
            </a:r>
            <a:endParaRPr lang="en-US" sz="900" dirty="0"/>
          </a:p>
        </p:txBody>
      </p:sp>
      <p:sp>
        <p:nvSpPr>
          <p:cNvPr id="135" name="Text 133"/>
          <p:cNvSpPr/>
          <p:nvPr/>
        </p:nvSpPr>
        <p:spPr>
          <a:xfrm>
            <a:off x="1024128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📹  YOUTUBE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BY-NAME LAYERING   ·   VERTICAL_SAFETY 50CM   ·   DIRECT A* RTH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38" name="Shape 136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139" name="Text 137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STATUS · MULTI-DRONE SWARM   ·   07 / 09   ·   SEGURIDAD + RTH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286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1E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0972800" y="868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COMPORTAMIENTO  ·  TABLA DE CASOS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reacciona el dron ante distintas situaciones de obstáculos.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1247120" cy="502920"/>
          </a:xfrm>
          <a:prstGeom prst="rect">
            <a:avLst/>
          </a:prstGeom>
          <a:solidFill>
            <a:srgbClr val="1E233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SITUACIÓN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645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RESPUESTA DEL SISTEMA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0" y="1645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NIVEL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11247120" cy="548640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148840"/>
            <a:ext cx="73152" cy="54864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48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Camino libre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2148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recta directa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0" y="2148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73152" cy="548640"/>
          </a:xfrm>
          <a:prstGeom prst="rect">
            <a:avLst/>
          </a:prstGeom>
          <a:solidFill>
            <a:srgbClr val="FFAB0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697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muro entre medias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697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Rodeo con 1 waypoint perpendicular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0" y="2697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A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Nivel 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246120"/>
            <a:ext cx="73152" cy="548640"/>
          </a:xfrm>
          <a:prstGeom prst="rect">
            <a:avLst/>
          </a:prstGeom>
          <a:solidFill>
            <a:srgbClr val="FFAB0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246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Laberinto multi-muro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246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multi-hop sobre grafo visibilidad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0" y="3246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A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Nivel 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73152" cy="548640"/>
          </a:xfrm>
          <a:prstGeom prst="rect">
            <a:avLst/>
          </a:prstGeom>
          <a:solidFill>
            <a:srgbClr val="FFAB0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794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Hueco estrecho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3794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con clearance reducida (5 cm)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A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Nivel 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343400"/>
            <a:ext cx="11247120" cy="548640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343400"/>
            <a:ext cx="73152" cy="548640"/>
          </a:xfrm>
          <a:prstGeom prst="rect">
            <a:avLst/>
          </a:prstGeom>
          <a:solidFill>
            <a:srgbClr val="FF4C4C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343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Dron pegado a pared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4343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mode: salida sin buffer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0" y="4343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Nivel 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892040"/>
            <a:ext cx="73152" cy="548640"/>
          </a:xfrm>
          <a:prstGeom prst="rect">
            <a:avLst/>
          </a:prstGeom>
          <a:solidFill>
            <a:srgbClr val="FF4C4C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892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Completamente encerrado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0" y="4892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+ log de aviso, NO atraviesa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58400" y="4892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5440680"/>
            <a:ext cx="11247120" cy="548640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5440680"/>
            <a:ext cx="73152" cy="5486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5440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Otro dron en el path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0" y="5440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altitud determinista por nombre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058400" y="5440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AVOID OBSTACLE   ·   ESCAPE MODE   ·   BY-NAME SAFETY   ·   HOVER ON FAIL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45" name="Text 43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STATUS · MULTI-DRONE SWARM   ·   08 / 09   ·   COMPORTAMIENTOS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2286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1E2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0972800" y="868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CIERRE  ·  LOGROS · LÍMITS · FUTURO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Funciona como enjambre coordinado en simulación; con dron real, dead-reckoning limita escalado.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017520" cy="1645920"/>
          </a:xfrm>
          <a:prstGeom prst="rect">
            <a:avLst/>
          </a:prstGeom>
          <a:solidFill>
            <a:srgbClr val="13161E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3017520" cy="10972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4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DRONES SIMULTÁNEOS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Convergencia + RTH + A* + 3D safety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3474720"/>
            <a:ext cx="2606040" cy="3017520"/>
          </a:xfrm>
          <a:prstGeom prst="rect">
            <a:avLst/>
          </a:prstGeom>
          <a:solidFill>
            <a:srgbClr val="13161E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3474720"/>
            <a:ext cx="2606040" cy="10972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3611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ACHIEVED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4023360"/>
            <a:ext cx="2423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Enjambre de 4 drones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visibility graph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RTH directo + atajo home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por nombre (alpha↑)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bridge multi-PC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editable en runtime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+ zoom-to-cursor map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3474720"/>
            <a:ext cx="2606040" cy="3017520"/>
          </a:xfrm>
          <a:prstGeom prst="rect">
            <a:avLst/>
          </a:prstGeom>
          <a:solidFill>
            <a:srgbClr val="13161E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3474720"/>
            <a:ext cx="2606040" cy="109728"/>
          </a:xfrm>
          <a:prstGeom prst="rect">
            <a:avLst/>
          </a:prstGeom>
          <a:solidFill>
            <a:srgbClr val="FFAB00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3611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A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TELLO LIMITS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4023360"/>
            <a:ext cx="2423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GPS / odometría XY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Dead-reckoning drift acumulativo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discretos (cw/move)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FoV de cámara limitado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Rotaciones imprecisas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SDK ~2s/comando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EDU/TT en multi-PC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235440" y="3474720"/>
            <a:ext cx="2606040" cy="3017520"/>
          </a:xfrm>
          <a:prstGeom prst="rect">
            <a:avLst/>
          </a:prstGeom>
          <a:solidFill>
            <a:srgbClr val="13161E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3474720"/>
            <a:ext cx="2606040" cy="109728"/>
          </a:xfrm>
          <a:prstGeom prst="rect">
            <a:avLst/>
          </a:prstGeom>
          <a:solidFill>
            <a:srgbClr val="FF4C4C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3611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/ REAL-WORLD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18320" y="4023360"/>
            <a:ext cx="2423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 (visión + IMU)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externo (OptiTrack)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de exploración (frontier)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indoor post-sismo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almacenes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de naves industriales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Pase a ROS2 + Gazebo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3017520" cy="3017520"/>
          </a:xfrm>
          <a:prstGeom prst="rect">
            <a:avLst/>
          </a:prstGeom>
          <a:solidFill>
            <a:srgbClr val="13161E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474720"/>
            <a:ext cx="3017520" cy="10972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 R. · 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114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Gracias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457200" y="5212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PREGUNTAS · COMENTARIOS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5852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github.com/&lt;tu-usuario&gt;/tello-swarm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STATUS   ·   MULTI-DRONE   ·   DEFENSA · 2026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13161E"/>
          </a:solidFill>
          <a:ln/>
        </p:spPr>
      </p:sp>
      <p:sp>
        <p:nvSpPr>
          <p:cNvPr id="32" name="Text 30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8A9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STATUS · MULTI-DRONE SWARM   ·   09 / 09   ·   CIERRE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Tello Swarm — Multi-drone coordinated search</dc:title>
  <dc:subject>PptxGenJS Presentation</dc:subject>
  <dc:creator>Marc Rodríguez Franco</dc:creator>
  <cp:lastModifiedBy>Marc Rodríguez Franco</cp:lastModifiedBy>
  <cp:revision>1</cp:revision>
  <dcterms:created xsi:type="dcterms:W3CDTF">2026-05-27T02:37:04Z</dcterms:created>
  <dcterms:modified xsi:type="dcterms:W3CDTF">2026-05-27T02:37:04Z</dcterms:modified>
</cp:coreProperties>
</file>